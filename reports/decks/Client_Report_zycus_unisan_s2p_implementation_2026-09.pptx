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Task completion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2C39A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DCEFEA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Delivered</c:v>
                </c:pt>
                <c:pt idx="1">
                  <c:v>Remaining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116</c:v>
                </c:pt>
                <c:pt idx="1">
                  <c:v>170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3343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4A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60520"/>
            <a:ext cx="12188952" cy="8229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011680"/>
            <a:ext cx="10543032" cy="12801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Zycus - UniSan S2P Implementation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337560"/>
            <a:ext cx="105430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Status Update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" y="4389120"/>
            <a:ext cx="10543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of 2026-09-01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are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1234440"/>
            <a:ext cx="2011680" cy="6400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554480"/>
            <a:ext cx="3383280" cy="3566160"/>
          </a:xfrm>
          <a:prstGeom prst="roundRect">
            <a:avLst>
              <a:gd name="adj" fmla="val 3243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965960"/>
            <a:ext cx="3383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40.6%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640080" y="34290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project tasks complete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9776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116 of 286 tasks delivered</a:t>
            </a:r>
            <a:endParaRPr lang="en-US" sz="13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4343400" y="1600200"/>
          <a:ext cx="32004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7863840" y="16916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status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863840" y="205740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Below target pace — recovery actions in progress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7863840" y="32918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in progress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955280" y="365760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Phase I</a:t>
            </a:r>
            <a:endParaRPr lang="en-US" sz="13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Hypercare Phase I</a:t>
            </a:r>
            <a:endParaRPr lang="en-US" sz="13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Validation &amp; Documentation</a:t>
            </a:r>
            <a:endParaRPr lang="en-US" sz="13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eProc and eInvoice and Merlin APSD</a:t>
            </a:r>
            <a:endParaRPr lang="en-US" sz="13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Management with Basic Setup</a:t>
            </a:r>
            <a:endParaRPr lang="en-US" sz="13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Information Management with In…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timeline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1234440"/>
            <a:ext cx="2011680" cy="6400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2136648"/>
            <a:ext cx="11201400" cy="262128"/>
          </a:xfrm>
          <a:prstGeom prst="rect">
            <a:avLst/>
          </a:prstGeom>
          <a:solidFill>
            <a:srgbClr val="F7F9FB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2660904"/>
            <a:ext cx="11201400" cy="262128"/>
          </a:xfrm>
          <a:prstGeom prst="rect">
            <a:avLst/>
          </a:prstGeom>
          <a:solidFill>
            <a:srgbClr val="F7F9F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3185160"/>
            <a:ext cx="11201400" cy="262128"/>
          </a:xfrm>
          <a:prstGeom prst="rect">
            <a:avLst/>
          </a:prstGeom>
          <a:solidFill>
            <a:srgbClr val="F7F9FB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3709416"/>
            <a:ext cx="11201400" cy="262128"/>
          </a:xfrm>
          <a:prstGeom prst="rect">
            <a:avLst/>
          </a:prstGeom>
          <a:solidFill>
            <a:srgbClr val="F7F9FB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4233672"/>
            <a:ext cx="11201400" cy="262128"/>
          </a:xfrm>
          <a:prstGeom prst="rect">
            <a:avLst/>
          </a:prstGeom>
          <a:solidFill>
            <a:srgbClr val="F7F9FB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4757928"/>
            <a:ext cx="11201400" cy="262128"/>
          </a:xfrm>
          <a:prstGeom prst="rect">
            <a:avLst/>
          </a:prstGeom>
          <a:solidFill>
            <a:srgbClr val="F7F9FB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5282184"/>
            <a:ext cx="11201400" cy="262128"/>
          </a:xfrm>
          <a:prstGeom prst="rect">
            <a:avLst/>
          </a:prstGeom>
          <a:solidFill>
            <a:srgbClr val="F7F9FB"/>
          </a:solidFill>
          <a:ln/>
        </p:spPr>
      </p:sp>
      <p:sp>
        <p:nvSpPr>
          <p:cNvPr id="11" name="Shape 9"/>
          <p:cNvSpPr/>
          <p:nvPr/>
        </p:nvSpPr>
        <p:spPr>
          <a:xfrm>
            <a:off x="4898630" y="1874520"/>
            <a:ext cx="0" cy="3931920"/>
          </a:xfrm>
          <a:prstGeom prst="line">
            <a:avLst/>
          </a:prstGeom>
          <a:noFill/>
          <a:ln w="9525">
            <a:solidFill>
              <a:srgbClr val="E1E6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41430" y="1600200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'26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7023992" y="1874520"/>
            <a:ext cx="0" cy="3931920"/>
          </a:xfrm>
          <a:prstGeom prst="line">
            <a:avLst/>
          </a:prstGeom>
          <a:noFill/>
          <a:ln w="9525">
            <a:solidFill>
              <a:srgbClr val="E1E6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66792" y="1600200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'26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9220200" y="1874520"/>
            <a:ext cx="0" cy="3931920"/>
          </a:xfrm>
          <a:prstGeom prst="line">
            <a:avLst/>
          </a:prstGeom>
          <a:noFill/>
          <a:ln w="9525">
            <a:solidFill>
              <a:srgbClr val="E1E6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63000" y="1600200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'26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1416408" y="1874520"/>
            <a:ext cx="0" cy="3931920"/>
          </a:xfrm>
          <a:prstGeom prst="line">
            <a:avLst/>
          </a:prstGeom>
          <a:noFill/>
          <a:ln w="9525">
            <a:solidFill>
              <a:srgbClr val="E1E6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59208" y="1600200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'26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1416408" y="1856232"/>
            <a:ext cx="0" cy="3968496"/>
          </a:xfrm>
          <a:prstGeom prst="line">
            <a:avLst/>
          </a:prstGeom>
          <a:noFill/>
          <a:ln w="15875">
            <a:solidFill>
              <a:srgbClr val="024A52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10867768" y="1362456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0080" y="1874520"/>
            <a:ext cx="3246120" cy="26212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Phase I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977640" y="1929567"/>
            <a:ext cx="637609" cy="152034"/>
          </a:xfrm>
          <a:prstGeom prst="roundRect">
            <a:avLst>
              <a:gd name="adj" fmla="val 18043"/>
            </a:avLst>
          </a:prstGeom>
          <a:solidFill>
            <a:srgbClr val="6FC7BA"/>
          </a:solidFill>
          <a:ln w="9525">
            <a:solidFill>
              <a:srgbClr val="3FA59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2136648"/>
            <a:ext cx="3246120" cy="26212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/No-go Check Point ( Meeting with UniSan) f…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313288" y="2186452"/>
            <a:ext cx="162519" cy="162519"/>
          </a:xfrm>
          <a:prstGeom prst="diamond">
            <a:avLst/>
          </a:prstGeom>
          <a:solidFill>
            <a:srgbClr val="02C39A"/>
          </a:solidFill>
          <a:ln w="9525">
            <a:solidFill>
              <a:srgbClr val="019E7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2398776"/>
            <a:ext cx="3246120" cy="26212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Zycus system to all users  for iContra…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313288" y="2448580"/>
            <a:ext cx="162519" cy="162519"/>
          </a:xfrm>
          <a:prstGeom prst="diamond">
            <a:avLst/>
          </a:prstGeom>
          <a:solidFill>
            <a:srgbClr val="02C39A"/>
          </a:solidFill>
          <a:ln w="9525">
            <a:solidFill>
              <a:srgbClr val="019E7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2660904"/>
            <a:ext cx="3246120" cy="26212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Go-Live Phase I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313288" y="2710708"/>
            <a:ext cx="162519" cy="162519"/>
          </a:xfrm>
          <a:prstGeom prst="diamond">
            <a:avLst/>
          </a:prstGeom>
          <a:solidFill>
            <a:srgbClr val="02C39A"/>
          </a:solidFill>
          <a:ln w="9525">
            <a:solidFill>
              <a:srgbClr val="019E7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2923032"/>
            <a:ext cx="3246120" cy="26212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Hypercare Phase I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465394" y="2978079"/>
            <a:ext cx="1912826" cy="152034"/>
          </a:xfrm>
          <a:prstGeom prst="roundRect">
            <a:avLst>
              <a:gd name="adj" fmla="val 18043"/>
            </a:avLst>
          </a:prstGeom>
          <a:solidFill>
            <a:srgbClr val="6FC7BA"/>
          </a:solidFill>
          <a:ln w="9525">
            <a:solidFill>
              <a:srgbClr val="3FA59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3185160"/>
            <a:ext cx="3246120" cy="26212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Information Management with Integrati…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677930" y="3240207"/>
            <a:ext cx="4250724" cy="152034"/>
          </a:xfrm>
          <a:prstGeom prst="roundRect">
            <a:avLst>
              <a:gd name="adj" fmla="val 18043"/>
            </a:avLst>
          </a:prstGeom>
          <a:solidFill>
            <a:srgbClr val="6FC7BA"/>
          </a:solidFill>
          <a:ln w="9525">
            <a:solidFill>
              <a:srgbClr val="3FA59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3447288"/>
            <a:ext cx="3246120" cy="26212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Validation &amp; Documentation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173848" y="3502335"/>
            <a:ext cx="2337898" cy="152034"/>
          </a:xfrm>
          <a:prstGeom prst="roundRect">
            <a:avLst>
              <a:gd name="adj" fmla="val 18043"/>
            </a:avLst>
          </a:prstGeom>
          <a:solidFill>
            <a:srgbClr val="6FC7BA"/>
          </a:solidFill>
          <a:ln w="9525">
            <a:solidFill>
              <a:srgbClr val="3FA59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3709416"/>
            <a:ext cx="3246120" cy="26212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eProc and eInvoice and Merlin APSD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173848" y="3764463"/>
            <a:ext cx="3258889" cy="152034"/>
          </a:xfrm>
          <a:prstGeom prst="roundRect">
            <a:avLst>
              <a:gd name="adj" fmla="val 18043"/>
            </a:avLst>
          </a:prstGeom>
          <a:solidFill>
            <a:srgbClr val="6FC7BA"/>
          </a:solidFill>
          <a:ln w="9525">
            <a:solidFill>
              <a:srgbClr val="3FA59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" y="3971544"/>
            <a:ext cx="3246120" cy="26212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Management with Basic Setup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944983" y="4026591"/>
            <a:ext cx="1700290" cy="152034"/>
          </a:xfrm>
          <a:prstGeom prst="roundRect">
            <a:avLst>
              <a:gd name="adj" fmla="val 18043"/>
            </a:avLst>
          </a:prstGeom>
          <a:solidFill>
            <a:srgbClr val="6FC7BA"/>
          </a:solidFill>
          <a:ln w="9525">
            <a:solidFill>
              <a:srgbClr val="3FA59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" y="4233672"/>
            <a:ext cx="3246120" cy="26212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iSource Configuration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511746" y="4288719"/>
            <a:ext cx="1062681" cy="152034"/>
          </a:xfrm>
          <a:prstGeom prst="roundRect">
            <a:avLst>
              <a:gd name="adj" fmla="val 18043"/>
            </a:avLst>
          </a:prstGeom>
          <a:solidFill>
            <a:srgbClr val="FFFFFF"/>
          </a:solidFill>
          <a:ln w="9525">
            <a:solidFill>
              <a:srgbClr val="02809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0080" y="4495800"/>
            <a:ext cx="3246120" cy="26212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Merlin Intake Configuration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8511746" y="4550847"/>
            <a:ext cx="991836" cy="152034"/>
          </a:xfrm>
          <a:prstGeom prst="roundRect">
            <a:avLst>
              <a:gd name="adj" fmla="val 18043"/>
            </a:avLst>
          </a:prstGeom>
          <a:solidFill>
            <a:srgbClr val="FFFFFF"/>
          </a:solidFill>
          <a:ln w="9525">
            <a:solidFill>
              <a:srgbClr val="02809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0080" y="4757928"/>
            <a:ext cx="3246120" cy="26212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KPI Sign-off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8855559" y="4807732"/>
            <a:ext cx="162519" cy="162519"/>
          </a:xfrm>
          <a:prstGeom prst="diamond">
            <a:avLst/>
          </a:prstGeom>
          <a:solidFill>
            <a:srgbClr val="FFFFFF"/>
          </a:solidFill>
          <a:ln w="9525">
            <a:solidFill>
              <a:srgbClr val="02809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080" y="5020056"/>
            <a:ext cx="3246120" cy="26212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Acceptance Testing (UAT) Phase II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9645272" y="5075103"/>
            <a:ext cx="1204372" cy="152034"/>
          </a:xfrm>
          <a:prstGeom prst="roundRect">
            <a:avLst>
              <a:gd name="adj" fmla="val 18043"/>
            </a:avLst>
          </a:prstGeom>
          <a:solidFill>
            <a:srgbClr val="FFFFFF"/>
          </a:solidFill>
          <a:ln w="9525">
            <a:solidFill>
              <a:srgbClr val="02809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0080" y="5282184"/>
            <a:ext cx="3246120" cy="26212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Phase II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10424572" y="5337231"/>
            <a:ext cx="1062681" cy="152034"/>
          </a:xfrm>
          <a:prstGeom prst="roundRect">
            <a:avLst>
              <a:gd name="adj" fmla="val 18043"/>
            </a:avLst>
          </a:prstGeom>
          <a:solidFill>
            <a:srgbClr val="FFFFFF"/>
          </a:solidFill>
          <a:ln w="9525">
            <a:solidFill>
              <a:srgbClr val="02809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0080" y="5544312"/>
            <a:ext cx="3246120" cy="26212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Migration Phase II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10637108" y="5599359"/>
            <a:ext cx="1204372" cy="152034"/>
          </a:xfrm>
          <a:prstGeom prst="roundRect">
            <a:avLst>
              <a:gd name="adj" fmla="val 18043"/>
            </a:avLst>
          </a:prstGeom>
          <a:solidFill>
            <a:srgbClr val="FFFFFF"/>
          </a:solidFill>
          <a:ln w="9525">
            <a:solidFill>
              <a:srgbClr val="02809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703320" y="58521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2026-05-19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0835640" y="58521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2026-09-07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40080" y="6208776"/>
            <a:ext cx="274320" cy="146304"/>
          </a:xfrm>
          <a:prstGeom prst="roundRect">
            <a:avLst>
              <a:gd name="adj" fmla="val 12500"/>
            </a:avLst>
          </a:prstGeom>
          <a:solidFill>
            <a:srgbClr val="02C39A"/>
          </a:solidFill>
          <a:ln w="9525">
            <a:solidFill>
              <a:srgbClr val="019E7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87552" y="615391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2651760" y="6208776"/>
            <a:ext cx="274320" cy="146304"/>
          </a:xfrm>
          <a:prstGeom prst="roundRect">
            <a:avLst>
              <a:gd name="adj" fmla="val 12500"/>
            </a:avLst>
          </a:prstGeom>
          <a:solidFill>
            <a:srgbClr val="6FC7BA"/>
          </a:solidFill>
          <a:ln w="9525">
            <a:solidFill>
              <a:srgbClr val="3FA59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999232" y="615391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4663440" y="6208776"/>
            <a:ext cx="274320" cy="14630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02809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010912" y="615391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6400800" y="6153912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+ 13 earlier phase(s) completed — full history available on request.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been delivered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1234440"/>
            <a:ext cx="2011680" cy="6400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600200"/>
            <a:ext cx="53949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700"/>
              </a:spcAft>
              <a:buSzPct val="100000"/>
              <a:buChar char="✓"/>
            </a:pPr>
            <a:r>
              <a:rPr lang="en-US" sz="13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Sign Off</a:t>
            </a:r>
            <a:endParaRPr lang="en-US" sz="1350" dirty="0"/>
          </a:p>
          <a:p>
            <a:pPr marL="228600" indent="-228600">
              <a:spcAft>
                <a:spcPts val="700"/>
              </a:spcAft>
              <a:buSzPct val="100000"/>
              <a:buChar char="✓"/>
            </a:pPr>
            <a:r>
              <a:rPr lang="en-US" sz="13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Initiation and Data Gathering</a:t>
            </a:r>
            <a:endParaRPr lang="en-US" sz="1350" dirty="0"/>
          </a:p>
          <a:p>
            <a:pPr marL="228600" indent="-228600">
              <a:spcAft>
                <a:spcPts val="700"/>
              </a:spcAft>
              <a:buSzPct val="100000"/>
              <a:buChar char="✓"/>
            </a:pPr>
            <a:r>
              <a:rPr lang="en-US" sz="13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Validation &amp; Documentation</a:t>
            </a:r>
            <a:endParaRPr lang="en-US" sz="1350" dirty="0"/>
          </a:p>
          <a:p>
            <a:pPr marL="228600" indent="-228600">
              <a:spcAft>
                <a:spcPts val="700"/>
              </a:spcAft>
              <a:buSzPct val="100000"/>
              <a:buChar char="✓"/>
            </a:pPr>
            <a:r>
              <a:rPr lang="en-US" sz="13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Sign On and User details Integration</a:t>
            </a:r>
            <a:endParaRPr lang="en-US" sz="1350" dirty="0"/>
          </a:p>
          <a:p>
            <a:pPr marL="228600" indent="-228600">
              <a:spcAft>
                <a:spcPts val="700"/>
              </a:spcAft>
              <a:buSzPct val="100000"/>
              <a:buChar char="✓"/>
            </a:pPr>
            <a:r>
              <a:rPr lang="en-US" sz="13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Management with Basic Setup</a:t>
            </a:r>
            <a:endParaRPr lang="en-US" sz="1350" dirty="0"/>
          </a:p>
          <a:p>
            <a:pPr marL="228600" indent="-228600">
              <a:spcAft>
                <a:spcPts val="700"/>
              </a:spcAft>
              <a:buSzPct val="100000"/>
              <a:buChar char="✓"/>
            </a:pPr>
            <a:r>
              <a:rPr lang="en-US" sz="13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Information Management with Integrat…</a:t>
            </a:r>
            <a:endParaRPr lang="en-US" sz="1350" dirty="0"/>
          </a:p>
          <a:p>
            <a:pPr marL="228600" indent="-228600">
              <a:spcAft>
                <a:spcPts val="700"/>
              </a:spcAft>
              <a:buSzPct val="100000"/>
              <a:buChar char="✓"/>
            </a:pPr>
            <a:r>
              <a:rPr lang="en-US" sz="13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Acceptance Testing (UAT) Phase I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400800" y="1600200"/>
            <a:ext cx="53949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700"/>
              </a:spcAft>
              <a:buSzPct val="100000"/>
              <a:buChar char="✓"/>
            </a:pPr>
            <a:r>
              <a:rPr lang="en-US" sz="13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 Completion I</a:t>
            </a:r>
            <a:endParaRPr lang="en-US" sz="1350" dirty="0"/>
          </a:p>
          <a:p>
            <a:pPr marL="228600" indent="-228600">
              <a:spcAft>
                <a:spcPts val="700"/>
              </a:spcAft>
              <a:buSzPct val="100000"/>
              <a:buChar char="✓"/>
            </a:pPr>
            <a:r>
              <a:rPr lang="en-US" sz="13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KPI Sign-off</a:t>
            </a:r>
            <a:endParaRPr lang="en-US" sz="1350" dirty="0"/>
          </a:p>
          <a:p>
            <a:pPr marL="228600" indent="-228600">
              <a:spcAft>
                <a:spcPts val="700"/>
              </a:spcAft>
              <a:buSzPct val="100000"/>
              <a:buChar char="✓"/>
            </a:pPr>
            <a:r>
              <a:rPr lang="en-US" sz="13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Completion</a:t>
            </a:r>
            <a:endParaRPr lang="en-US" sz="1350" dirty="0"/>
          </a:p>
          <a:p>
            <a:pPr marL="228600" indent="-228600">
              <a:spcAft>
                <a:spcPts val="700"/>
              </a:spcAft>
              <a:buSzPct val="100000"/>
              <a:buChar char="✓"/>
            </a:pPr>
            <a:r>
              <a:rPr lang="en-US" sz="13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Migration Phase I</a:t>
            </a:r>
            <a:endParaRPr lang="en-US" sz="1350" dirty="0"/>
          </a:p>
          <a:p>
            <a:pPr marL="228600" indent="-228600">
              <a:spcAft>
                <a:spcPts val="700"/>
              </a:spcAft>
              <a:buSzPct val="100000"/>
              <a:buChar char="✓"/>
            </a:pPr>
            <a:r>
              <a:rPr lang="en-US" sz="13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Reports to be migrated on PROD</a:t>
            </a:r>
            <a:endParaRPr lang="en-US" sz="1350" dirty="0"/>
          </a:p>
          <a:p>
            <a:pPr marL="228600" indent="-228600">
              <a:spcAft>
                <a:spcPts val="700"/>
              </a:spcAft>
              <a:buSzPct val="100000"/>
              <a:buChar char="✓"/>
            </a:pPr>
            <a:r>
              <a:rPr lang="en-US" sz="13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Sanity on Production for iContract and iSuppl…</a:t>
            </a:r>
            <a:endParaRPr lang="en-US" sz="1350" dirty="0"/>
          </a:p>
          <a:p>
            <a:pPr marL="228600" indent="-228600">
              <a:spcAft>
                <a:spcPts val="700"/>
              </a:spcAft>
              <a:buSzPct val="100000"/>
              <a:buChar char="✓"/>
            </a:pPr>
            <a:r>
              <a:rPr lang="en-US" sz="13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/No-go Check Point ( Meeting with UniSan)…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22960" y="5943600"/>
            <a:ext cx="10543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+ 2 more phases delivered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need from you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1234440"/>
            <a:ext cx="2011680" cy="6400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691640"/>
            <a:ext cx="10515600" cy="457200"/>
          </a:xfrm>
          <a:prstGeom prst="roundRect">
            <a:avLst>
              <a:gd name="adj" fmla="val 12000"/>
            </a:avLst>
          </a:prstGeom>
          <a:solidFill>
            <a:srgbClr val="EAF7F4"/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69164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UniSan to review and Sign-off IAD Draft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9235440" y="16916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98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2026-07-21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2960" y="2258568"/>
            <a:ext cx="10515600" cy="457200"/>
          </a:xfrm>
          <a:prstGeom prst="roundRect">
            <a:avLst>
              <a:gd name="adj" fmla="val 12000"/>
            </a:avLst>
          </a:prstGeom>
          <a:solidFill>
            <a:srgbClr val="F5FBFA"/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258568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UniSan to provide historical contracts details for Bulk Upload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235440" y="225856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98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2026-07-16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2825496"/>
            <a:ext cx="10515600" cy="457200"/>
          </a:xfrm>
          <a:prstGeom prst="roundRect">
            <a:avLst>
              <a:gd name="adj" fmla="val 12000"/>
            </a:avLst>
          </a:prstGeom>
          <a:solidFill>
            <a:srgbClr val="EAF7F4"/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825496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UniSan to review uploaded details and provide go ahead for bulk upload into P…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235440" y="2825496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98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2026-07-24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3392424"/>
            <a:ext cx="10515600" cy="457200"/>
          </a:xfrm>
          <a:prstGeom prst="roundRect">
            <a:avLst>
              <a:gd name="adj" fmla="val 12000"/>
            </a:avLst>
          </a:prstGeom>
          <a:solidFill>
            <a:srgbClr val="F5FBFA"/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3392424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UniSan to provide feedback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235440" y="3392424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98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2026-07-22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960" y="3959352"/>
            <a:ext cx="10515600" cy="457200"/>
          </a:xfrm>
          <a:prstGeom prst="roundRect">
            <a:avLst>
              <a:gd name="adj" fmla="val 12000"/>
            </a:avLst>
          </a:prstGeom>
          <a:solidFill>
            <a:srgbClr val="EAF7F4"/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3959352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UniSan to provide supplier bulk upload data in the template provided by Zycus…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235440" y="395935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98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2026-06-12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22960" y="4526280"/>
            <a:ext cx="10515600" cy="457200"/>
          </a:xfrm>
          <a:prstGeom prst="roundRect">
            <a:avLst>
              <a:gd name="adj" fmla="val 12000"/>
            </a:avLst>
          </a:prstGeom>
          <a:solidFill>
            <a:srgbClr val="F5FBFA"/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452628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UniSan to provide updated bulk upload data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9235440" y="45262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98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2026-06-24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22960" y="5093208"/>
            <a:ext cx="10515600" cy="457200"/>
          </a:xfrm>
          <a:prstGeom prst="roundRect">
            <a:avLst>
              <a:gd name="adj" fmla="val 12000"/>
            </a:avLst>
          </a:prstGeom>
          <a:solidFill>
            <a:srgbClr val="EAF7F4"/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5840" y="5093208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UniSan to review bulk uploaded data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235440" y="509320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98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2026-07-01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22960" y="5660136"/>
            <a:ext cx="10515600" cy="457200"/>
          </a:xfrm>
          <a:prstGeom prst="roundRect">
            <a:avLst>
              <a:gd name="adj" fmla="val 12000"/>
            </a:avLst>
          </a:prstGeom>
          <a:solidFill>
            <a:srgbClr val="F5FBFA"/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5840" y="5660136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UniSan to sign off on supplier bulk upload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9235440" y="5660136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98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2026-07-01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22960" y="6272784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+ 2 further item(s) — details shared separately.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24A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97280"/>
            <a:ext cx="12188952" cy="8229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02920"/>
            <a:ext cx="105430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next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920240"/>
            <a:ext cx="10543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 phase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286000"/>
            <a:ext cx="105430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iSource Configuration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22960" y="3246120"/>
            <a:ext cx="10543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2026-08-06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5120640"/>
            <a:ext cx="105430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for your continued partnership. We look forward to the next milestone together.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Zycus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Zycus - UniSan S2P Implementation — Project Status Update</dc:title>
  <dc:subject>PptxGenJS Presentation</dc:subject>
  <dc:creator>Zycus Delivery</dc:creator>
  <cp:lastModifiedBy>Zycus Delivery</cp:lastModifiedBy>
  <cp:revision>1</cp:revision>
  <dcterms:created xsi:type="dcterms:W3CDTF">2026-09-01T10:54:13Z</dcterms:created>
  <dcterms:modified xsi:type="dcterms:W3CDTF">2026-09-01T10:54:13Z</dcterms:modified>
</cp:coreProperties>
</file>
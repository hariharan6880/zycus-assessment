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12188952" cy="82296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371600"/>
            <a:ext cx="10543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D23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ONLY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22960" y="1920240"/>
            <a:ext cx="105430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Portfolio Health Review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822960" y="3063240"/>
            <a:ext cx="10543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Cross-project synthesis for Zycus leadership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4343400"/>
            <a:ext cx="10543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projects</a:t>
            </a:r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As of 2026-08-01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4937760"/>
            <a:ext cx="1054303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of 2 active project(s); worst current status is Red. 2 at Red (Zycus - Titan S2P Implementation, Zycus - UniSan S2P Implementation).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56032"/>
            <a:ext cx="10908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Portfolio snapshot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58368" y="777240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Independently computed RAG status per project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644652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ONLY — Zycus leadership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3657600" cy="4206240"/>
          </a:xfrm>
          <a:prstGeom prst="roundRect">
            <a:avLst>
              <a:gd name="adj" fmla="val 2500"/>
            </a:avLst>
          </a:prstGeom>
          <a:solidFill>
            <a:srgbClr val="E8F0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554480"/>
            <a:ext cx="3657600" cy="868680"/>
          </a:xfrm>
          <a:prstGeom prst="roundRect">
            <a:avLst>
              <a:gd name="adj" fmla="val 10526"/>
            </a:avLst>
          </a:prstGeom>
          <a:solidFill>
            <a:srgbClr val="D2352C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719072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22960" y="25603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Zycus - Titan S2P Implementation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35204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 </a:t>
            </a:r>
            <a:pPr indent="0" marL="0">
              <a:buNone/>
            </a:pPr>
            <a:r>
              <a:rPr lang="en-US" sz="10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· 46.6% (69/148)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22960" y="4050792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 </a:t>
            </a:r>
            <a:pPr indent="0" marL="0">
              <a:buNone/>
            </a:pPr>
            <a:r>
              <a:rPr lang="en-US" sz="10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· 28.6% of 14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22960" y="4581144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 </a:t>
            </a:r>
            <a:pPr indent="0" marL="0">
              <a:buNone/>
            </a:pPr>
            <a:r>
              <a:rPr lang="en-US" sz="10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 · 3 issue(s)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22960" y="5111496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  </a:t>
            </a:r>
            <a:pPr indent="0" marL="0">
              <a:buNone/>
            </a:pPr>
            <a:r>
              <a:rPr lang="en-US" sz="10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54880" y="1554480"/>
            <a:ext cx="3657600" cy="4206240"/>
          </a:xfrm>
          <a:prstGeom prst="roundRect">
            <a:avLst>
              <a:gd name="adj" fmla="val 2500"/>
            </a:avLst>
          </a:prstGeom>
          <a:solidFill>
            <a:srgbClr val="E8F0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0" y="1554480"/>
            <a:ext cx="3657600" cy="868680"/>
          </a:xfrm>
          <a:prstGeom prst="roundRect">
            <a:avLst>
              <a:gd name="adj" fmla="val 10526"/>
            </a:avLst>
          </a:prstGeom>
          <a:solidFill>
            <a:srgbClr val="D2352C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1719072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937760" y="25603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Zycus - UniSan S2P Implementation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37760" y="35204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 </a:t>
            </a:r>
            <a:pPr indent="0" marL="0">
              <a:buNone/>
            </a:pPr>
            <a:r>
              <a:rPr lang="en-US" sz="10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· 62.9% (107/170)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937760" y="4050792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 </a:t>
            </a:r>
            <a:pPr indent="0" marL="0">
              <a:buNone/>
            </a:pPr>
            <a:r>
              <a:rPr lang="en-US" sz="10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 · 10.3% of 39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937760" y="4581144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 </a:t>
            </a:r>
            <a:pPr indent="0" marL="0">
              <a:buNone/>
            </a:pPr>
            <a:r>
              <a:rPr lang="en-US" sz="10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· 0 issue(s)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937760" y="5111496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  </a:t>
            </a:r>
            <a:pPr indent="0" marL="0">
              <a:buNone/>
            </a:pPr>
            <a:r>
              <a:rPr lang="en-US" sz="10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logged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56032"/>
            <a:ext cx="10908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Schedule slippage &amp; milestone health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58368" y="777240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Earliest vs latest stored snapshot, per project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644652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ONLY — Zycus leadership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" y="155448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Zycus - Titan S2P Implementation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2960" y="1865376"/>
            <a:ext cx="706516" cy="219456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0" y="181051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8.1%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22960" y="2121408"/>
            <a:ext cx="4064646" cy="21945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0" y="2066544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23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46.6%  (+38.5 pts)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" y="260604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Zycus - UniSan S2P Implementation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2916936"/>
            <a:ext cx="2363775" cy="219456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0" y="286207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27.1%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22960" y="3172968"/>
            <a:ext cx="5486400" cy="21945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3118104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23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62.9%  (+35.8 pts)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22960" y="3703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■ </a:t>
            </a:r>
            <a:pPr indent="0" marL="0">
              <a:buNone/>
            </a:pPr>
            <a:r>
              <a:rPr lang="en-US" sz="1000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earliest    </a:t>
            </a:r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</a:rPr>
              <a:t>■ </a:t>
            </a:r>
            <a:pPr indent="0" marL="0">
              <a:buNone/>
            </a:pPr>
            <a:r>
              <a:rPr lang="en-US" sz="1000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406640" y="1554480"/>
            <a:ext cx="4114800" cy="4297680"/>
          </a:xfrm>
          <a:prstGeom prst="roundRect">
            <a:avLst>
              <a:gd name="adj" fmla="val 2222"/>
            </a:avLst>
          </a:prstGeom>
          <a:solidFill>
            <a:srgbClr val="141B47"/>
          </a:solidFill>
          <a:ln/>
        </p:spPr>
      </p:sp>
      <p:sp>
        <p:nvSpPr>
          <p:cNvPr id="18" name="Text 16"/>
          <p:cNvSpPr/>
          <p:nvPr/>
        </p:nvSpPr>
        <p:spPr>
          <a:xfrm>
            <a:off x="7635240" y="17830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Milestone weakness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35240" y="2286000"/>
            <a:ext cx="3657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health is Amber-or-worse across the entire portfolio — phase-level slippage is a shared weakness, not a one-project issue.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Zycus - Titan S2P Impleme…: Red (28.6%) — Build, Migration, Hypercare, Configuration Docum…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Zycus - UniSan S2P Implem…: Amber (10.3%) — Training Phase I, Hypercare Phase I, Configuration Valid…, Value KPI Sign-off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56032"/>
            <a:ext cx="10908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Governance gap: commentary discipline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58368" y="777240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Stakeholder-comment logging by project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644652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ONLY — Zycus leadership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" y="1463040"/>
            <a:ext cx="1054303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Stakeholder-comment logging is inconsistent across projects — some PMs log commentary, others log none, which biases every comment-derived signal.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2651760"/>
            <a:ext cx="10515600" cy="640080"/>
          </a:xfrm>
          <a:prstGeom prst="roundRect">
            <a:avLst>
              <a:gd name="adj" fmla="val 8571"/>
            </a:avLst>
          </a:prstGeom>
          <a:solidFill>
            <a:srgbClr val="E8F0FE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651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Zycus - Titan S2P Implementation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595360" y="26517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 logged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3401568"/>
            <a:ext cx="10515600" cy="640080"/>
          </a:xfrm>
          <a:prstGeom prst="roundRect">
            <a:avLst>
              <a:gd name="adj" fmla="val 8571"/>
            </a:avLst>
          </a:prstGeom>
          <a:solidFill>
            <a:srgbClr val="F5F8FF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3401568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Zycus - UniSan S2P Implementation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595360" y="3401568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23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comments logged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4288536"/>
            <a:ext cx="1054303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every comment-derived signal (blockers, sentiment, data-integrity) is blind wherever a PM logs nothing — an absence of findings there is not evidence of health.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56032"/>
            <a:ext cx="10908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quality: source-tool reliability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58368" y="777240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source file's own status fields disagree with computed status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644652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ONLY — Zycus leadership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" y="1463040"/>
            <a:ext cx="1054303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reliability of the source tool's own status fields varies by project — some files' self-reported health disagrees with the computed status more than others.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2468880"/>
            <a:ext cx="10515600" cy="914400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 w="15875">
            <a:solidFill>
              <a:srgbClr val="E0A1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542032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Zycus - Titan S2P Implementation  </a:t>
            </a:r>
            <a:pPr indent="0" marL="0">
              <a:buNone/>
            </a:pPr>
            <a:r>
              <a:rPr lang="en-US" sz="1100" b="1" dirty="0">
                <a:solidFill>
                  <a:srgbClr val="E0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conflict(s)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2880360"/>
            <a:ext cx="10149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file's own Schedule Health is 'Green', but this agent computed 'Red' from independently verified signals.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22960" y="3520440"/>
            <a:ext cx="10515600" cy="914400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3593592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Zycus - UniSan S2P Implementation  </a:t>
            </a:r>
            <a:pPr indent="0" marL="0">
              <a:buNone/>
            </a:pPr>
            <a:r>
              <a:rPr lang="en-US" sz="11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conflict(s)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3931920"/>
            <a:ext cx="10149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status fields agree with computed status.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56032"/>
            <a:ext cx="10908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58368" y="777240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fallback-template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644652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ONLY — Zycus leadership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22960" y="16459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645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00200" y="1600200"/>
            <a:ext cx="97840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phase-level milestone slippage as a portfolio-wide problem and review phase re-baselining across projects, not case by case.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29718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971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600200" y="2926080"/>
            <a:ext cx="97840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 stakeholder-comment logging across PMs — uneven commentary discipline is silently biasing the comment-derived signals.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22960" y="42976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297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600200" y="4251960"/>
            <a:ext cx="97840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slippage is trending up across the board; escalate resourcing review before the next reporting cycle.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Zycus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INTERNAL ONLY — Portfolio Health</dc:title>
  <dc:subject>PptxGenJS Presentation</dc:subject>
  <dc:creator>Zycus Delivery</dc:creator>
  <cp:lastModifiedBy>Zycus Delivery</cp:lastModifiedBy>
  <cp:revision>1</cp:revision>
  <dcterms:created xsi:type="dcterms:W3CDTF">2026-08-01T08:08:15Z</dcterms:created>
  <dcterms:modified xsi:type="dcterms:W3CDTF">2026-08-01T08:08:15Z</dcterms:modified>
</cp:coreProperties>
</file>